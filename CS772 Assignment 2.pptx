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825" y="637095"/>
            <a:ext cx="897128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825" y="1725958"/>
            <a:ext cx="8632825" cy="2070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huggingface.co/datasets/ai4bharat/Aksharantar/tree/main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clanthology.org/W15-3902.pdf" TargetMode="External"/><Relationship Id="rId3" Type="http://schemas.openxmlformats.org/officeDocument/2006/relationships/hyperlink" Target="https://github.com/snukky/news-translit-nmt/blob/master/tools/news_evaluation.py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3424" y="2524582"/>
            <a:ext cx="7884159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100"/>
              <a:t>CS772</a:t>
            </a:r>
            <a:r>
              <a:rPr dirty="0" sz="6000" spc="-305"/>
              <a:t> </a:t>
            </a:r>
            <a:r>
              <a:rPr dirty="0" sz="6000" spc="-295"/>
              <a:t>–</a:t>
            </a:r>
            <a:r>
              <a:rPr dirty="0" sz="6000" spc="-305"/>
              <a:t> </a:t>
            </a:r>
            <a:r>
              <a:rPr dirty="0" sz="6000" spc="260"/>
              <a:t>Assignment</a:t>
            </a:r>
            <a:r>
              <a:rPr dirty="0" sz="6000" spc="-310"/>
              <a:t> </a:t>
            </a:r>
            <a:r>
              <a:rPr dirty="0" sz="6000" spc="80"/>
              <a:t>2</a:t>
            </a:r>
            <a:endParaRPr sz="6000"/>
          </a:p>
        </p:txBody>
      </p:sp>
      <p:sp>
        <p:nvSpPr>
          <p:cNvPr id="3" name="object 3" descr=""/>
          <p:cNvSpPr txBox="1"/>
          <p:nvPr/>
        </p:nvSpPr>
        <p:spPr>
          <a:xfrm>
            <a:off x="4414837" y="3593782"/>
            <a:ext cx="3362325" cy="104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400" spc="50">
                <a:latin typeface="Tahoma"/>
                <a:cs typeface="Tahoma"/>
              </a:rPr>
              <a:t>Transliteration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300"/>
              </a:spcBef>
            </a:pPr>
            <a:r>
              <a:rPr dirty="0" sz="2400" spc="-114">
                <a:solidFill>
                  <a:srgbClr val="FF0000"/>
                </a:solidFill>
                <a:latin typeface="Arial Black"/>
                <a:cs typeface="Arial Black"/>
              </a:rPr>
              <a:t>Due</a:t>
            </a:r>
            <a:r>
              <a:rPr dirty="0" sz="2400" spc="-18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 spc="-75">
                <a:solidFill>
                  <a:srgbClr val="FF0000"/>
                </a:solidFill>
                <a:latin typeface="Arial Black"/>
                <a:cs typeface="Arial Black"/>
              </a:rPr>
              <a:t>11</a:t>
            </a:r>
            <a:r>
              <a:rPr dirty="0" baseline="30864" sz="2025" spc="-112">
                <a:solidFill>
                  <a:srgbClr val="FF0000"/>
                </a:solidFill>
                <a:latin typeface="Arial Black"/>
                <a:cs typeface="Arial Black"/>
              </a:rPr>
              <a:t>th</a:t>
            </a:r>
            <a:r>
              <a:rPr dirty="0" baseline="30864" sz="2025" spc="1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 spc="-135">
                <a:solidFill>
                  <a:srgbClr val="FF0000"/>
                </a:solidFill>
                <a:latin typeface="Arial Black"/>
                <a:cs typeface="Arial Black"/>
              </a:rPr>
              <a:t>October</a:t>
            </a:r>
            <a:r>
              <a:rPr dirty="0" sz="2400" spc="-17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 spc="-105">
                <a:solidFill>
                  <a:srgbClr val="FF0000"/>
                </a:solidFill>
                <a:latin typeface="Arial Black"/>
                <a:cs typeface="Arial Black"/>
              </a:rPr>
              <a:t>2025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What</a:t>
            </a:r>
            <a:r>
              <a:rPr dirty="0" spc="-235"/>
              <a:t> </a:t>
            </a:r>
            <a:r>
              <a:rPr dirty="0" spc="130"/>
              <a:t>is</a:t>
            </a:r>
            <a:r>
              <a:rPr dirty="0" spc="-229"/>
              <a:t> </a:t>
            </a:r>
            <a:r>
              <a:rPr dirty="0" spc="95"/>
              <a:t>Transliteration?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825" y="1725958"/>
            <a:ext cx="9380855" cy="155956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105">
                <a:latin typeface="Tahoma"/>
                <a:cs typeface="Tahoma"/>
              </a:rPr>
              <a:t>Converting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text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40">
                <a:latin typeface="Tahoma"/>
                <a:cs typeface="Tahoma"/>
              </a:rPr>
              <a:t>from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35">
                <a:latin typeface="Tahoma"/>
                <a:cs typeface="Tahoma"/>
              </a:rPr>
              <a:t>one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20">
                <a:latin typeface="Tahoma"/>
                <a:cs typeface="Tahoma"/>
              </a:rPr>
              <a:t>input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script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to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another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is</a:t>
            </a:r>
            <a:r>
              <a:rPr dirty="0" sz="2800" spc="-16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a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character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level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55">
                <a:latin typeface="Tahoma"/>
                <a:cs typeface="Tahoma"/>
              </a:rPr>
              <a:t>task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can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35">
                <a:latin typeface="Tahoma"/>
                <a:cs typeface="Tahoma"/>
              </a:rPr>
              <a:t>be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45">
                <a:latin typeface="Tahoma"/>
                <a:cs typeface="Tahoma"/>
              </a:rPr>
              <a:t>modeled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as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a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sequence-</a:t>
            </a:r>
            <a:r>
              <a:rPr dirty="0" sz="2800">
                <a:latin typeface="Tahoma"/>
                <a:cs typeface="Tahoma"/>
              </a:rPr>
              <a:t>to-</a:t>
            </a:r>
            <a:r>
              <a:rPr dirty="0" sz="2800" spc="105">
                <a:latin typeface="Tahoma"/>
                <a:cs typeface="Tahoma"/>
              </a:rPr>
              <a:t>sequence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135">
                <a:latin typeface="Tahoma"/>
                <a:cs typeface="Tahoma"/>
              </a:rPr>
              <a:t>problem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06345" y="4079068"/>
            <a:ext cx="1509395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85" b="1" i="1">
                <a:solidFill>
                  <a:srgbClr val="666666"/>
                </a:solidFill>
                <a:latin typeface="Arial"/>
                <a:cs typeface="Arial"/>
              </a:rPr>
              <a:t>“</a:t>
            </a:r>
            <a:r>
              <a:rPr dirty="0" sz="1900" spc="-85">
                <a:latin typeface="Nirmala UI"/>
                <a:cs typeface="Nirmala UI"/>
              </a:rPr>
              <a:t>मैं</a:t>
            </a:r>
            <a:r>
              <a:rPr dirty="0" sz="1900" spc="20">
                <a:latin typeface="Nirmala UI"/>
                <a:cs typeface="Nirmala UI"/>
              </a:rPr>
              <a:t> </a:t>
            </a:r>
            <a:r>
              <a:rPr dirty="0" sz="1900" spc="-190">
                <a:latin typeface="Nirmala UI"/>
                <a:cs typeface="Nirmala UI"/>
              </a:rPr>
              <a:t>घर</a:t>
            </a:r>
            <a:r>
              <a:rPr dirty="0" sz="1900" spc="-60">
                <a:latin typeface="Nirmala UI"/>
                <a:cs typeface="Nirmala UI"/>
              </a:rPr>
              <a:t> </a:t>
            </a:r>
            <a:r>
              <a:rPr dirty="0" sz="1900" spc="-320">
                <a:latin typeface="Nirmala UI"/>
                <a:cs typeface="Nirmala UI"/>
              </a:rPr>
              <a:t>NT</a:t>
            </a:r>
            <a:r>
              <a:rPr dirty="0" sz="1900" spc="-55">
                <a:latin typeface="Nirmala UI"/>
                <a:cs typeface="Nirmala UI"/>
              </a:rPr>
              <a:t> </a:t>
            </a:r>
            <a:r>
              <a:rPr dirty="0" sz="1900" spc="-310">
                <a:latin typeface="Nirmala UI"/>
                <a:cs typeface="Nirmala UI"/>
              </a:rPr>
              <a:t>रहT</a:t>
            </a:r>
            <a:r>
              <a:rPr dirty="0" sz="1900" spc="-65">
                <a:latin typeface="Nirmala UI"/>
                <a:cs typeface="Nirmala UI"/>
              </a:rPr>
              <a:t> </a:t>
            </a:r>
            <a:r>
              <a:rPr dirty="0" sz="1900" spc="-114">
                <a:latin typeface="Nirmala UI"/>
                <a:cs typeface="Nirmala UI"/>
              </a:rPr>
              <a:t>5'</a:t>
            </a:r>
            <a:r>
              <a:rPr dirty="0" sz="1900" spc="-114" b="1" i="1">
                <a:solidFill>
                  <a:srgbClr val="666666"/>
                </a:solidFill>
                <a:latin typeface="Arial"/>
                <a:cs typeface="Arial"/>
              </a:rPr>
              <a:t>”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37696" y="4092384"/>
            <a:ext cx="2491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666666"/>
                </a:solidFill>
                <a:latin typeface="Arial"/>
                <a:cs typeface="Arial"/>
              </a:rPr>
              <a:t>“</a:t>
            </a:r>
            <a:r>
              <a:rPr dirty="0" sz="1800" i="1">
                <a:latin typeface="Arial"/>
                <a:cs typeface="Arial"/>
              </a:rPr>
              <a:t>Mein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ghar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ja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i="1">
                <a:latin typeface="Arial"/>
                <a:cs typeface="Arial"/>
              </a:rPr>
              <a:t>rha</a:t>
            </a:r>
            <a:r>
              <a:rPr dirty="0" sz="1800" spc="5" i="1">
                <a:latin typeface="Arial"/>
                <a:cs typeface="Arial"/>
              </a:rPr>
              <a:t> </a:t>
            </a:r>
            <a:r>
              <a:rPr dirty="0" sz="1800" spc="-20" i="1">
                <a:latin typeface="Arial"/>
                <a:cs typeface="Arial"/>
              </a:rPr>
              <a:t>hoon</a:t>
            </a:r>
            <a:r>
              <a:rPr dirty="0" sz="1800" spc="-20" b="1">
                <a:solidFill>
                  <a:srgbClr val="666666"/>
                </a:solidFill>
                <a:latin typeface="Arial"/>
                <a:cs typeface="Arial"/>
              </a:rPr>
              <a:t>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4"/>
              <a:t>Your</a:t>
            </a:r>
            <a:r>
              <a:rPr dirty="0" spc="-229"/>
              <a:t> </a:t>
            </a:r>
            <a:r>
              <a:rPr dirty="0" spc="190"/>
              <a:t>Assignment</a:t>
            </a:r>
            <a:r>
              <a:rPr dirty="0" spc="-225"/>
              <a:t> </a:t>
            </a:r>
            <a:r>
              <a:rPr dirty="0" spc="-220"/>
              <a:t>–</a:t>
            </a:r>
            <a:r>
              <a:rPr dirty="0" spc="-225"/>
              <a:t> </a:t>
            </a:r>
            <a:r>
              <a:rPr dirty="0" spc="229"/>
              <a:t>due</a:t>
            </a:r>
            <a:r>
              <a:rPr dirty="0" spc="-160"/>
              <a:t> </a:t>
            </a:r>
            <a:r>
              <a:rPr dirty="0" spc="-450">
                <a:solidFill>
                  <a:srgbClr val="FF0000"/>
                </a:solidFill>
                <a:latin typeface="Arial Black"/>
                <a:cs typeface="Arial Black"/>
              </a:rPr>
              <a:t>11</a:t>
            </a:r>
            <a:r>
              <a:rPr dirty="0" spc="-31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pc="-315">
                <a:solidFill>
                  <a:srgbClr val="FF0000"/>
                </a:solidFill>
                <a:latin typeface="Arial Black"/>
                <a:cs typeface="Arial Black"/>
              </a:rPr>
              <a:t>Oct</a:t>
            </a:r>
            <a:r>
              <a:rPr dirty="0" spc="-32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pc="-470">
                <a:solidFill>
                  <a:srgbClr val="FF0000"/>
                </a:solidFill>
                <a:latin typeface="Arial Black"/>
                <a:cs typeface="Arial Black"/>
              </a:rPr>
              <a:t>25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825" y="1803857"/>
            <a:ext cx="95250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50">
                <a:latin typeface="Arial MT"/>
                <a:cs typeface="Arial MT"/>
              </a:rPr>
              <a:t>•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5425" y="1813585"/>
            <a:ext cx="7607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65">
                <a:latin typeface="Tahoma"/>
                <a:cs typeface="Tahoma"/>
              </a:rPr>
              <a:t>Download</a:t>
            </a:r>
            <a:r>
              <a:rPr dirty="0" sz="1600" spc="15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transliteration</a:t>
            </a:r>
            <a:r>
              <a:rPr dirty="0" sz="1600" spc="20">
                <a:latin typeface="Tahoma"/>
                <a:cs typeface="Tahoma"/>
              </a:rPr>
              <a:t> </a:t>
            </a:r>
            <a:r>
              <a:rPr dirty="0" sz="1600" spc="55">
                <a:latin typeface="Tahoma"/>
                <a:cs typeface="Tahoma"/>
              </a:rPr>
              <a:t>data</a:t>
            </a:r>
            <a:r>
              <a:rPr dirty="0" sz="1600" spc="20">
                <a:latin typeface="Tahoma"/>
                <a:cs typeface="Tahoma"/>
              </a:rPr>
              <a:t>  </a:t>
            </a:r>
            <a:r>
              <a:rPr dirty="0" sz="1600">
                <a:latin typeface="Tahoma"/>
                <a:cs typeface="Tahoma"/>
              </a:rPr>
              <a:t>(Aksharantar)</a:t>
            </a:r>
            <a:r>
              <a:rPr dirty="0" sz="1600" spc="30">
                <a:latin typeface="Tahoma"/>
                <a:cs typeface="Tahoma"/>
              </a:rPr>
              <a:t> </a:t>
            </a:r>
            <a:r>
              <a:rPr dirty="0" sz="1600" spc="70">
                <a:latin typeface="Tahoma"/>
                <a:cs typeface="Tahoma"/>
              </a:rPr>
              <a:t>from</a:t>
            </a:r>
            <a:r>
              <a:rPr dirty="0" sz="1600" spc="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AI4Bharat</a:t>
            </a:r>
            <a:r>
              <a:rPr dirty="0" sz="1600" spc="3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HuggingFace</a:t>
            </a:r>
            <a:r>
              <a:rPr dirty="0" sz="1600" spc="20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page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74025" y="2045139"/>
            <a:ext cx="85725" cy="70294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350" spc="-50">
                <a:latin typeface="Arial MT"/>
                <a:cs typeface="Arial MT"/>
              </a:rPr>
              <a:t>•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350" spc="-50">
                <a:latin typeface="Arial MT"/>
                <a:cs typeface="Arial MT"/>
              </a:rPr>
              <a:t>•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50">
                <a:latin typeface="Arial MT"/>
                <a:cs typeface="Arial MT"/>
              </a:rPr>
              <a:t>•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74025" y="2069099"/>
            <a:ext cx="9801225" cy="122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4441825">
              <a:lnSpc>
                <a:spcPct val="111900"/>
              </a:lnSpc>
              <a:spcBef>
                <a:spcPts val="100"/>
              </a:spcBef>
            </a:pP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https://huggingface.co/datasets/ai4bharat/Aksharantar/tree/main</a:t>
            </a:r>
            <a:r>
              <a:rPr dirty="0" sz="1300" spc="500">
                <a:latin typeface="Tahoma"/>
                <a:cs typeface="Tahoma"/>
              </a:rPr>
              <a:t>   </a:t>
            </a:r>
            <a:r>
              <a:rPr dirty="0" sz="1300">
                <a:latin typeface="Tahoma"/>
                <a:cs typeface="Tahoma"/>
              </a:rPr>
              <a:t>Language: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Hindi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-70">
                <a:latin typeface="Tahoma"/>
                <a:cs typeface="Tahoma"/>
              </a:rPr>
              <a:t>–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Roman</a:t>
            </a:r>
            <a:r>
              <a:rPr dirty="0" sz="1300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to</a:t>
            </a:r>
            <a:r>
              <a:rPr dirty="0" sz="1300" spc="-10">
                <a:latin typeface="Tahoma"/>
                <a:cs typeface="Tahoma"/>
              </a:rPr>
              <a:t> Devanagari</a:t>
            </a:r>
            <a:endParaRPr sz="1300">
              <a:latin typeface="Tahoma"/>
              <a:cs typeface="Tahoma"/>
            </a:endParaRPr>
          </a:p>
          <a:p>
            <a:pPr marL="241300" marR="170815">
              <a:lnSpc>
                <a:spcPts val="1260"/>
              </a:lnSpc>
              <a:spcBef>
                <a:spcPts val="445"/>
              </a:spcBef>
            </a:pPr>
            <a:r>
              <a:rPr dirty="0" sz="1300">
                <a:latin typeface="Tahoma"/>
                <a:cs typeface="Tahoma"/>
              </a:rPr>
              <a:t>There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is</a:t>
            </a:r>
            <a:r>
              <a:rPr dirty="0" sz="1300" spc="1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quite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a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lot</a:t>
            </a:r>
            <a:r>
              <a:rPr dirty="0" sz="1300" spc="2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of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data,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you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can</a:t>
            </a:r>
            <a:r>
              <a:rPr dirty="0" sz="1300" spc="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sub-</a:t>
            </a:r>
            <a:r>
              <a:rPr dirty="0" sz="1300" spc="50">
                <a:latin typeface="Tahoma"/>
                <a:cs typeface="Tahoma"/>
              </a:rPr>
              <a:t>sample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 spc="45">
                <a:latin typeface="Tahoma"/>
                <a:cs typeface="Tahoma"/>
              </a:rPr>
              <a:t>training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data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as</a:t>
            </a:r>
            <a:r>
              <a:rPr dirty="0" sz="1300" spc="25">
                <a:latin typeface="Tahoma"/>
                <a:cs typeface="Tahoma"/>
              </a:rPr>
              <a:t> </a:t>
            </a:r>
            <a:r>
              <a:rPr dirty="0" sz="1300" spc="60">
                <a:latin typeface="Tahoma"/>
                <a:cs typeface="Tahoma"/>
              </a:rPr>
              <a:t>per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your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available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 spc="45">
                <a:latin typeface="Tahoma"/>
                <a:cs typeface="Tahoma"/>
              </a:rPr>
              <a:t>compute.</a:t>
            </a:r>
            <a:r>
              <a:rPr dirty="0" sz="1300" spc="25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Subsample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smartly,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but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limit </a:t>
            </a:r>
            <a:r>
              <a:rPr dirty="0" sz="1300" spc="-50">
                <a:latin typeface="Arial Black"/>
                <a:cs typeface="Arial Black"/>
              </a:rPr>
              <a:t>the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40">
                <a:latin typeface="Arial Black"/>
                <a:cs typeface="Arial Black"/>
              </a:rPr>
              <a:t>training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65">
                <a:latin typeface="Arial Black"/>
                <a:cs typeface="Arial Black"/>
              </a:rPr>
              <a:t>data</a:t>
            </a:r>
            <a:r>
              <a:rPr dirty="0" sz="1300" spc="-85">
                <a:latin typeface="Arial Black"/>
                <a:cs typeface="Arial Black"/>
              </a:rPr>
              <a:t> </a:t>
            </a:r>
            <a:r>
              <a:rPr dirty="0" sz="1300" spc="-40">
                <a:latin typeface="Arial Black"/>
                <a:cs typeface="Arial Black"/>
              </a:rPr>
              <a:t>to</a:t>
            </a:r>
            <a:r>
              <a:rPr dirty="0" sz="1300" spc="-75">
                <a:latin typeface="Arial Black"/>
                <a:cs typeface="Arial Black"/>
              </a:rPr>
              <a:t> </a:t>
            </a:r>
            <a:r>
              <a:rPr dirty="0" sz="1300" spc="-114">
                <a:latin typeface="Arial Black"/>
                <a:cs typeface="Arial Black"/>
              </a:rPr>
              <a:t>100k</a:t>
            </a:r>
            <a:r>
              <a:rPr dirty="0" sz="1300" spc="-85">
                <a:latin typeface="Arial Black"/>
                <a:cs typeface="Arial Black"/>
              </a:rPr>
              <a:t> </a:t>
            </a:r>
            <a:r>
              <a:rPr dirty="0" sz="1300" spc="-10">
                <a:latin typeface="Arial Black"/>
                <a:cs typeface="Arial Black"/>
              </a:rPr>
              <a:t>examples</a:t>
            </a:r>
            <a:r>
              <a:rPr dirty="0" sz="1300" spc="-10">
                <a:latin typeface="Tahoma"/>
                <a:cs typeface="Tahoma"/>
              </a:rPr>
              <a:t>.</a:t>
            </a:r>
            <a:endParaRPr sz="1300">
              <a:latin typeface="Tahoma"/>
              <a:cs typeface="Tahoma"/>
            </a:endParaRPr>
          </a:p>
          <a:p>
            <a:pPr marL="241300" marR="5080" indent="-228600">
              <a:lnSpc>
                <a:spcPts val="1260"/>
              </a:lnSpc>
              <a:spcBef>
                <a:spcPts val="455"/>
              </a:spcBef>
              <a:buSzPct val="103846"/>
              <a:buFont typeface="Arial MT"/>
              <a:buChar char="•"/>
              <a:tabLst>
                <a:tab pos="241300" algn="l"/>
              </a:tabLst>
            </a:pPr>
            <a:r>
              <a:rPr dirty="0" sz="1300" spc="55">
                <a:latin typeface="Tahoma"/>
                <a:cs typeface="Tahoma"/>
              </a:rPr>
              <a:t>Use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entire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test</a:t>
            </a:r>
            <a:r>
              <a:rPr dirty="0" sz="1300" spc="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set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65">
                <a:latin typeface="Tahoma"/>
                <a:cs typeface="Tahoma"/>
              </a:rPr>
              <a:t>from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 </a:t>
            </a:r>
            <a:r>
              <a:rPr dirty="0" sz="1300" spc="45">
                <a:latin typeface="Tahoma"/>
                <a:cs typeface="Tahoma"/>
              </a:rPr>
              <a:t>Aksharantar</a:t>
            </a:r>
            <a:r>
              <a:rPr dirty="0" sz="1300">
                <a:latin typeface="Tahoma"/>
                <a:cs typeface="Tahoma"/>
              </a:rPr>
              <a:t> copus.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test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set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60">
                <a:latin typeface="Tahoma"/>
                <a:cs typeface="Tahoma"/>
              </a:rPr>
              <a:t>must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not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be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used</a:t>
            </a:r>
            <a:r>
              <a:rPr dirty="0" sz="1300" spc="-1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as</a:t>
            </a:r>
            <a:r>
              <a:rPr dirty="0" sz="1300" spc="-1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a </a:t>
            </a:r>
            <a:r>
              <a:rPr dirty="0" sz="1300" spc="50">
                <a:latin typeface="Tahoma"/>
                <a:cs typeface="Tahoma"/>
              </a:rPr>
              <a:t>part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of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training</a:t>
            </a:r>
            <a:r>
              <a:rPr dirty="0" sz="1300" spc="-1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data</a:t>
            </a:r>
            <a:r>
              <a:rPr dirty="0" sz="1300" spc="5">
                <a:latin typeface="Tahoma"/>
                <a:cs typeface="Tahoma"/>
              </a:rPr>
              <a:t> </a:t>
            </a:r>
            <a:r>
              <a:rPr dirty="0" sz="1300" spc="70">
                <a:latin typeface="Tahoma"/>
                <a:cs typeface="Tahoma"/>
              </a:rPr>
              <a:t>or</a:t>
            </a:r>
            <a:r>
              <a:rPr dirty="0" sz="1300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for</a:t>
            </a:r>
            <a:r>
              <a:rPr dirty="0" sz="1300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tuning</a:t>
            </a:r>
            <a:r>
              <a:rPr dirty="0" sz="1300" spc="10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the </a:t>
            </a:r>
            <a:r>
              <a:rPr dirty="0" sz="1300" spc="10">
                <a:latin typeface="Tahoma"/>
                <a:cs typeface="Tahoma"/>
              </a:rPr>
              <a:t>model.</a:t>
            </a:r>
            <a:r>
              <a:rPr dirty="0" sz="1300" spc="1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Use</a:t>
            </a:r>
            <a:r>
              <a:rPr dirty="0" sz="1300" spc="15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the</a:t>
            </a:r>
            <a:r>
              <a:rPr dirty="0" sz="1300" spc="15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validation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set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 spc="65">
                <a:latin typeface="Tahoma"/>
                <a:cs typeface="Tahoma"/>
              </a:rPr>
              <a:t>from</a:t>
            </a:r>
            <a:r>
              <a:rPr dirty="0" sz="1300" spc="15">
                <a:latin typeface="Tahoma"/>
                <a:cs typeface="Tahoma"/>
              </a:rPr>
              <a:t> </a:t>
            </a:r>
            <a:r>
              <a:rPr dirty="0" sz="1300" spc="45">
                <a:latin typeface="Tahoma"/>
                <a:cs typeface="Tahoma"/>
              </a:rPr>
              <a:t>Aksharantar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 spc="75">
                <a:latin typeface="Tahoma"/>
                <a:cs typeface="Tahoma"/>
              </a:rPr>
              <a:t>or</a:t>
            </a:r>
            <a:r>
              <a:rPr dirty="0" sz="1300" spc="25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create</a:t>
            </a:r>
            <a:r>
              <a:rPr dirty="0" sz="1300" spc="1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your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 spc="-20">
                <a:latin typeface="Tahoma"/>
                <a:cs typeface="Tahoma"/>
              </a:rPr>
              <a:t>own.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825" y="3327019"/>
            <a:ext cx="95250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50">
                <a:latin typeface="Arial MT"/>
                <a:cs typeface="Arial MT"/>
              </a:rPr>
              <a:t>•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45425" y="3321735"/>
            <a:ext cx="6289040" cy="50292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600">
                <a:latin typeface="Tahoma"/>
                <a:cs typeface="Tahoma"/>
              </a:rPr>
              <a:t>Train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transliteration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75">
                <a:latin typeface="Tahoma"/>
                <a:cs typeface="Tahoma"/>
              </a:rPr>
              <a:t>models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70">
                <a:latin typeface="Tahoma"/>
                <a:cs typeface="Tahoma"/>
              </a:rPr>
              <a:t>using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encoder-</a:t>
            </a:r>
            <a:r>
              <a:rPr dirty="0" sz="1600" spc="55">
                <a:latin typeface="Tahoma"/>
                <a:cs typeface="Tahoma"/>
              </a:rPr>
              <a:t>decoder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75">
                <a:latin typeface="Tahoma"/>
                <a:cs typeface="Tahoma"/>
              </a:rPr>
              <a:t>models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using:</a:t>
            </a:r>
            <a:endParaRPr sz="16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103846"/>
              <a:buFont typeface="Arial MT"/>
              <a:buChar char="•"/>
              <a:tabLst>
                <a:tab pos="469265" algn="l"/>
              </a:tabLst>
            </a:pPr>
            <a:r>
              <a:rPr dirty="0" sz="1300" spc="-20">
                <a:latin typeface="Tahoma"/>
                <a:cs typeface="Tahoma"/>
              </a:rPr>
              <a:t>LSTM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74025" y="3790055"/>
            <a:ext cx="85725" cy="46037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350" spc="-50">
                <a:latin typeface="Arial MT"/>
                <a:cs typeface="Arial MT"/>
              </a:rPr>
              <a:t>•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50">
                <a:latin typeface="Arial MT"/>
                <a:cs typeface="Arial MT"/>
              </a:rPr>
              <a:t>•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02625" y="3797454"/>
            <a:ext cx="2095500" cy="46037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300" spc="-10">
                <a:latin typeface="Tahoma"/>
                <a:cs typeface="Tahoma"/>
              </a:rPr>
              <a:t>Transformer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300" spc="-130">
                <a:latin typeface="Arial Black"/>
                <a:cs typeface="Arial Black"/>
              </a:rPr>
              <a:t>Use</a:t>
            </a:r>
            <a:r>
              <a:rPr dirty="0" sz="1300" spc="-90">
                <a:latin typeface="Arial Black"/>
                <a:cs typeface="Arial Black"/>
              </a:rPr>
              <a:t> </a:t>
            </a:r>
            <a:r>
              <a:rPr dirty="0" sz="1300" spc="-55">
                <a:latin typeface="Arial Black"/>
                <a:cs typeface="Arial Black"/>
              </a:rPr>
              <a:t>maximum</a:t>
            </a:r>
            <a:r>
              <a:rPr dirty="0" sz="1300" spc="-80">
                <a:latin typeface="Arial Black"/>
                <a:cs typeface="Arial Black"/>
              </a:rPr>
              <a:t> </a:t>
            </a:r>
            <a:r>
              <a:rPr dirty="0" sz="1300" spc="-40">
                <a:latin typeface="Arial Black"/>
                <a:cs typeface="Arial Black"/>
              </a:rPr>
              <a:t>of</a:t>
            </a:r>
            <a:r>
              <a:rPr dirty="0" sz="1300" spc="-85">
                <a:latin typeface="Arial Black"/>
                <a:cs typeface="Arial Black"/>
              </a:rPr>
              <a:t> </a:t>
            </a:r>
            <a:r>
              <a:rPr dirty="0" sz="1300" spc="-130">
                <a:latin typeface="Arial Black"/>
                <a:cs typeface="Arial Black"/>
              </a:rPr>
              <a:t>2</a:t>
            </a:r>
            <a:r>
              <a:rPr dirty="0" sz="1300" spc="-85">
                <a:latin typeface="Arial Black"/>
                <a:cs typeface="Arial Black"/>
              </a:rPr>
              <a:t> </a:t>
            </a:r>
            <a:r>
              <a:rPr dirty="0" sz="1300" spc="-60">
                <a:latin typeface="Arial Black"/>
                <a:cs typeface="Arial Black"/>
              </a:rPr>
              <a:t>layers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16825" y="4290733"/>
            <a:ext cx="95250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50">
                <a:latin typeface="Arial MT"/>
                <a:cs typeface="Arial MT"/>
              </a:rPr>
              <a:t>•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45425" y="4285450"/>
            <a:ext cx="9511030" cy="175768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600" spc="-130">
                <a:latin typeface="Arial Black"/>
                <a:cs typeface="Arial Black"/>
              </a:rPr>
              <a:t>LLM</a:t>
            </a:r>
            <a:r>
              <a:rPr dirty="0" sz="1600" spc="-130">
                <a:latin typeface="Tahoma"/>
                <a:cs typeface="Tahoma"/>
              </a:rPr>
              <a:t>: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 spc="70">
                <a:latin typeface="Tahoma"/>
                <a:cs typeface="Tahoma"/>
              </a:rPr>
              <a:t>Prompting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off-the-shelf</a:t>
            </a:r>
            <a:r>
              <a:rPr dirty="0" sz="1600" spc="-5">
                <a:latin typeface="Tahoma"/>
                <a:cs typeface="Tahoma"/>
              </a:rPr>
              <a:t> </a:t>
            </a:r>
            <a:r>
              <a:rPr dirty="0" sz="1600" spc="70">
                <a:latin typeface="Tahoma"/>
                <a:cs typeface="Tahoma"/>
              </a:rPr>
              <a:t>models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 spc="-85">
                <a:latin typeface="Tahoma"/>
                <a:cs typeface="Tahoma"/>
              </a:rPr>
              <a:t>–</a:t>
            </a:r>
            <a:r>
              <a:rPr dirty="0" sz="1600">
                <a:latin typeface="Tahoma"/>
                <a:cs typeface="Tahoma"/>
              </a:rPr>
              <a:t> </a:t>
            </a:r>
            <a:r>
              <a:rPr dirty="0" sz="1600" spc="55">
                <a:latin typeface="Tahoma"/>
                <a:cs typeface="Tahoma"/>
              </a:rPr>
              <a:t>proprietary</a:t>
            </a:r>
            <a:r>
              <a:rPr dirty="0" sz="1600" spc="5">
                <a:latin typeface="Tahoma"/>
                <a:cs typeface="Tahoma"/>
              </a:rPr>
              <a:t> </a:t>
            </a:r>
            <a:r>
              <a:rPr dirty="0" sz="1600" spc="75">
                <a:latin typeface="Tahoma"/>
                <a:cs typeface="Tahoma"/>
              </a:rPr>
              <a:t>or</a:t>
            </a:r>
            <a:r>
              <a:rPr dirty="0" sz="1600">
                <a:latin typeface="Tahoma"/>
                <a:cs typeface="Tahoma"/>
              </a:rPr>
              <a:t> </a:t>
            </a:r>
            <a:r>
              <a:rPr dirty="0" sz="1600" spc="65">
                <a:latin typeface="Tahoma"/>
                <a:cs typeface="Tahoma"/>
              </a:rPr>
              <a:t>open-</a:t>
            </a:r>
            <a:r>
              <a:rPr dirty="0" sz="1600" spc="-10">
                <a:latin typeface="Tahoma"/>
                <a:cs typeface="Tahoma"/>
              </a:rPr>
              <a:t>source.</a:t>
            </a:r>
            <a:endParaRPr sz="16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103846"/>
              <a:buFont typeface="Arial MT"/>
              <a:buChar char="•"/>
              <a:tabLst>
                <a:tab pos="469265" algn="l"/>
              </a:tabLst>
            </a:pPr>
            <a:r>
              <a:rPr dirty="0" sz="1300">
                <a:latin typeface="Tahoma"/>
                <a:cs typeface="Tahoma"/>
              </a:rPr>
              <a:t>For</a:t>
            </a:r>
            <a:r>
              <a:rPr dirty="0" sz="1300" spc="85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open-</a:t>
            </a:r>
            <a:r>
              <a:rPr dirty="0" sz="1300">
                <a:latin typeface="Tahoma"/>
                <a:cs typeface="Tahoma"/>
              </a:rPr>
              <a:t>source</a:t>
            </a:r>
            <a:r>
              <a:rPr dirty="0" sz="1300" spc="75">
                <a:latin typeface="Tahoma"/>
                <a:cs typeface="Tahoma"/>
              </a:rPr>
              <a:t> </a:t>
            </a:r>
            <a:r>
              <a:rPr dirty="0" sz="1300" spc="45">
                <a:latin typeface="Tahoma"/>
                <a:cs typeface="Tahoma"/>
              </a:rPr>
              <a:t>models,</a:t>
            </a:r>
            <a:r>
              <a:rPr dirty="0" sz="1300" spc="80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you</a:t>
            </a:r>
            <a:r>
              <a:rPr dirty="0" sz="1300" spc="6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can</a:t>
            </a:r>
            <a:r>
              <a:rPr dirty="0" sz="1300" spc="8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use</a:t>
            </a:r>
            <a:r>
              <a:rPr dirty="0" sz="1300" spc="8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services</a:t>
            </a:r>
            <a:r>
              <a:rPr dirty="0" sz="1300" spc="8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like</a:t>
            </a:r>
            <a:r>
              <a:rPr dirty="0" sz="1300" spc="7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FireBase</a:t>
            </a:r>
            <a:r>
              <a:rPr dirty="0" sz="1300" spc="80">
                <a:latin typeface="Tahoma"/>
                <a:cs typeface="Tahoma"/>
              </a:rPr>
              <a:t> </a:t>
            </a:r>
            <a:r>
              <a:rPr dirty="0" sz="1300" spc="70">
                <a:latin typeface="Tahoma"/>
                <a:cs typeface="Tahoma"/>
              </a:rPr>
              <a:t>or</a:t>
            </a:r>
            <a:r>
              <a:rPr dirty="0" sz="1300" spc="8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DeepInfra</a:t>
            </a:r>
            <a:r>
              <a:rPr dirty="0" sz="1300" spc="8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that</a:t>
            </a:r>
            <a:r>
              <a:rPr dirty="0" sz="1300" spc="80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host</a:t>
            </a:r>
            <a:r>
              <a:rPr dirty="0" sz="1300" spc="8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these</a:t>
            </a:r>
            <a:r>
              <a:rPr dirty="0" sz="1300" spc="75">
                <a:latin typeface="Tahoma"/>
                <a:cs typeface="Tahoma"/>
              </a:rPr>
              <a:t> </a:t>
            </a:r>
            <a:r>
              <a:rPr dirty="0" sz="1300" spc="35">
                <a:latin typeface="Tahoma"/>
                <a:cs typeface="Tahoma"/>
              </a:rPr>
              <a:t>models.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ts val="1550"/>
              </a:lnSpc>
              <a:spcBef>
                <a:spcPts val="894"/>
              </a:spcBef>
            </a:pPr>
            <a:r>
              <a:rPr dirty="0" sz="1600">
                <a:latin typeface="Tahoma"/>
                <a:cs typeface="Tahoma"/>
              </a:rPr>
              <a:t>You</a:t>
            </a:r>
            <a:r>
              <a:rPr dirty="0" sz="1600" spc="5">
                <a:latin typeface="Tahoma"/>
                <a:cs typeface="Tahoma"/>
              </a:rPr>
              <a:t> </a:t>
            </a:r>
            <a:r>
              <a:rPr dirty="0" sz="1600" spc="55">
                <a:latin typeface="Tahoma"/>
                <a:cs typeface="Tahoma"/>
              </a:rPr>
              <a:t>can</a:t>
            </a:r>
            <a:r>
              <a:rPr dirty="0" sz="1600" spc="25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use</a:t>
            </a:r>
            <a:r>
              <a:rPr dirty="0" sz="1600" spc="30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pre-</a:t>
            </a:r>
            <a:r>
              <a:rPr dirty="0" sz="1600">
                <a:latin typeface="Tahoma"/>
                <a:cs typeface="Tahoma"/>
              </a:rPr>
              <a:t>written/available/LLM-</a:t>
            </a:r>
            <a:r>
              <a:rPr dirty="0" sz="1600" spc="50">
                <a:latin typeface="Tahoma"/>
                <a:cs typeface="Tahoma"/>
              </a:rPr>
              <a:t>generated</a:t>
            </a:r>
            <a:r>
              <a:rPr dirty="0" sz="1600" spc="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code,</a:t>
            </a:r>
            <a:r>
              <a:rPr dirty="0" sz="1600" spc="35">
                <a:latin typeface="Tahoma"/>
                <a:cs typeface="Tahoma"/>
              </a:rPr>
              <a:t> </a:t>
            </a:r>
            <a:r>
              <a:rPr dirty="0" sz="1600" spc="65">
                <a:latin typeface="Tahoma"/>
                <a:cs typeface="Tahoma"/>
              </a:rPr>
              <a:t>but</a:t>
            </a:r>
            <a:r>
              <a:rPr dirty="0" sz="1600" spc="15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you</a:t>
            </a:r>
            <a:r>
              <a:rPr dirty="0" sz="1600" spc="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will</a:t>
            </a:r>
            <a:r>
              <a:rPr dirty="0" sz="1600" spc="20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have</a:t>
            </a:r>
            <a:r>
              <a:rPr dirty="0" sz="1600" spc="1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to</a:t>
            </a:r>
            <a:r>
              <a:rPr dirty="0" sz="1600" spc="20">
                <a:latin typeface="Tahoma"/>
                <a:cs typeface="Tahoma"/>
              </a:rPr>
              <a:t> </a:t>
            </a:r>
            <a:r>
              <a:rPr dirty="0" sz="1600" spc="55">
                <a:latin typeface="Tahoma"/>
                <a:cs typeface="Tahoma"/>
              </a:rPr>
              <a:t>explain</a:t>
            </a:r>
            <a:r>
              <a:rPr dirty="0" sz="1600" spc="20">
                <a:latin typeface="Tahoma"/>
                <a:cs typeface="Tahoma"/>
              </a:rPr>
              <a:t> </a:t>
            </a:r>
            <a:r>
              <a:rPr dirty="0" sz="1600" spc="55">
                <a:latin typeface="Tahoma"/>
                <a:cs typeface="Tahoma"/>
              </a:rPr>
              <a:t>what</a:t>
            </a:r>
            <a:r>
              <a:rPr dirty="0" sz="1600" spc="3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the</a:t>
            </a:r>
            <a:r>
              <a:rPr dirty="0" sz="1600" spc="25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code</a:t>
            </a:r>
            <a:r>
              <a:rPr dirty="0" sz="1600" spc="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is </a:t>
            </a:r>
            <a:r>
              <a:rPr dirty="0" sz="1600" spc="40">
                <a:latin typeface="Tahoma"/>
                <a:cs typeface="Tahoma"/>
              </a:rPr>
              <a:t>doing.</a:t>
            </a:r>
            <a:endParaRPr sz="16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60"/>
              </a:spcBef>
              <a:buSzPct val="103846"/>
              <a:buFont typeface="Arial MT"/>
              <a:buChar char="•"/>
              <a:tabLst>
                <a:tab pos="469265" algn="l"/>
              </a:tabLst>
            </a:pPr>
            <a:r>
              <a:rPr dirty="0" sz="1300" spc="-10">
                <a:latin typeface="Tahoma"/>
                <a:cs typeface="Tahoma"/>
              </a:rPr>
              <a:t>Take</a:t>
            </a:r>
            <a:r>
              <a:rPr dirty="0" sz="1300" spc="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this</a:t>
            </a:r>
            <a:r>
              <a:rPr dirty="0" sz="1300" spc="40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opportunity</a:t>
            </a:r>
            <a:r>
              <a:rPr dirty="0" sz="1300" spc="25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to</a:t>
            </a:r>
            <a:r>
              <a:rPr dirty="0" sz="1300" spc="40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understand</a:t>
            </a:r>
            <a:r>
              <a:rPr dirty="0" sz="1300" spc="3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how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</a:t>
            </a:r>
            <a:r>
              <a:rPr dirty="0" sz="1300" spc="3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theory</a:t>
            </a:r>
            <a:r>
              <a:rPr dirty="0" sz="1300" spc="2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translates</a:t>
            </a:r>
            <a:r>
              <a:rPr dirty="0" sz="1300" spc="40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to</a:t>
            </a:r>
            <a:r>
              <a:rPr dirty="0" sz="1300" spc="20">
                <a:latin typeface="Tahoma"/>
                <a:cs typeface="Tahoma"/>
              </a:rPr>
              <a:t> </a:t>
            </a:r>
            <a:r>
              <a:rPr dirty="0" sz="1300" spc="35">
                <a:latin typeface="Tahoma"/>
                <a:cs typeface="Tahoma"/>
              </a:rPr>
              <a:t>code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600">
                <a:latin typeface="Tahoma"/>
                <a:cs typeface="Tahoma"/>
              </a:rPr>
              <a:t>Later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65">
                <a:latin typeface="Tahoma"/>
                <a:cs typeface="Tahoma"/>
              </a:rPr>
              <a:t>you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will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70">
                <a:latin typeface="Tahoma"/>
                <a:cs typeface="Tahoma"/>
              </a:rPr>
              <a:t>be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55">
                <a:latin typeface="Tahoma"/>
                <a:cs typeface="Tahoma"/>
              </a:rPr>
              <a:t>asked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to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70">
                <a:latin typeface="Tahoma"/>
                <a:cs typeface="Tahoma"/>
              </a:rPr>
              <a:t>implement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75">
                <a:latin typeface="Tahoma"/>
                <a:cs typeface="Tahoma"/>
              </a:rPr>
              <a:t>some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50">
                <a:latin typeface="Tahoma"/>
                <a:cs typeface="Tahoma"/>
              </a:rPr>
              <a:t>variant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which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will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require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you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to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modify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60">
                <a:latin typeface="Tahoma"/>
                <a:cs typeface="Tahoma"/>
              </a:rPr>
              <a:t>the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40">
                <a:latin typeface="Tahoma"/>
                <a:cs typeface="Tahoma"/>
              </a:rPr>
              <a:t>code</a:t>
            </a:r>
            <a:endParaRPr sz="16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SzPct val="103846"/>
              <a:buFont typeface="Arial MT"/>
              <a:buChar char="•"/>
              <a:tabLst>
                <a:tab pos="469265" algn="l"/>
              </a:tabLst>
            </a:pPr>
            <a:r>
              <a:rPr dirty="0" sz="1300" spc="10">
                <a:latin typeface="Tahoma"/>
                <a:cs typeface="Tahoma"/>
              </a:rPr>
              <a:t>Replace</a:t>
            </a:r>
            <a:r>
              <a:rPr dirty="0" sz="1300" spc="50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the</a:t>
            </a:r>
            <a:r>
              <a:rPr dirty="0" sz="1300" spc="55">
                <a:latin typeface="Tahoma"/>
                <a:cs typeface="Tahoma"/>
              </a:rPr>
              <a:t> </a:t>
            </a:r>
            <a:r>
              <a:rPr dirty="0" sz="1300" spc="50">
                <a:latin typeface="Tahoma"/>
                <a:cs typeface="Tahoma"/>
              </a:rPr>
              <a:t>standard</a:t>
            </a:r>
            <a:r>
              <a:rPr dirty="0" sz="1300" spc="45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attention</a:t>
            </a:r>
            <a:r>
              <a:rPr dirty="0" sz="1300" spc="50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by</a:t>
            </a:r>
            <a:r>
              <a:rPr dirty="0" sz="1300" spc="55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local</a:t>
            </a:r>
            <a:r>
              <a:rPr dirty="0" sz="1300" spc="50">
                <a:latin typeface="Tahoma"/>
                <a:cs typeface="Tahoma"/>
              </a:rPr>
              <a:t> </a:t>
            </a:r>
            <a:r>
              <a:rPr dirty="0" sz="1300" spc="10">
                <a:latin typeface="Tahoma"/>
                <a:cs typeface="Tahoma"/>
              </a:rPr>
              <a:t>attention</a:t>
            </a:r>
            <a:r>
              <a:rPr dirty="0" sz="1300" spc="40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in</a:t>
            </a:r>
            <a:r>
              <a:rPr dirty="0" sz="1300" spc="50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transformer</a:t>
            </a:r>
            <a:r>
              <a:rPr dirty="0" sz="1300" spc="45">
                <a:latin typeface="Tahoma"/>
                <a:cs typeface="Tahoma"/>
              </a:rPr>
              <a:t> model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6825" y="4819573"/>
            <a:ext cx="95250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50">
                <a:latin typeface="Arial MT"/>
                <a:cs typeface="Arial MT"/>
              </a:rPr>
              <a:t>•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16825" y="5545696"/>
            <a:ext cx="95250" cy="264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spc="-50">
                <a:latin typeface="Arial MT"/>
                <a:cs typeface="Arial MT"/>
              </a:rPr>
              <a:t>•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25" y="1938146"/>
            <a:ext cx="4265295" cy="1854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1145" marR="5080" indent="-259079">
              <a:lnSpc>
                <a:spcPct val="100000"/>
              </a:lnSpc>
              <a:spcBef>
                <a:spcPts val="100"/>
              </a:spcBef>
            </a:pPr>
            <a:r>
              <a:rPr dirty="0" sz="6000" spc="254"/>
              <a:t>Assignment </a:t>
            </a:r>
            <a:r>
              <a:rPr dirty="0" sz="6000" spc="229"/>
              <a:t>discussion</a:t>
            </a:r>
            <a:endParaRPr sz="6000"/>
          </a:p>
        </p:txBody>
      </p:sp>
      <p:sp>
        <p:nvSpPr>
          <p:cNvPr id="3" name="object 3" descr=""/>
          <p:cNvSpPr txBox="1"/>
          <p:nvPr/>
        </p:nvSpPr>
        <p:spPr>
          <a:xfrm>
            <a:off x="3126498" y="3878732"/>
            <a:ext cx="6011545" cy="15900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420"/>
              </a:spcBef>
            </a:pPr>
            <a:r>
              <a:rPr dirty="0" sz="2400" spc="60">
                <a:latin typeface="Tahoma"/>
                <a:cs typeface="Tahoma"/>
              </a:rPr>
              <a:t>Template</a:t>
            </a:r>
            <a:r>
              <a:rPr dirty="0" sz="2400" spc="-130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for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3600" spc="-70" i="1">
                <a:solidFill>
                  <a:srgbClr val="FF0000"/>
                </a:solidFill>
                <a:latin typeface="Trebuchet MS"/>
                <a:cs typeface="Trebuchet MS"/>
              </a:rPr>
              <a:t>You</a:t>
            </a:r>
            <a:r>
              <a:rPr dirty="0" sz="3600" spc="-150" i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3600" i="1">
                <a:solidFill>
                  <a:srgbClr val="FF0000"/>
                </a:solidFill>
                <a:latin typeface="Trebuchet MS"/>
                <a:cs typeface="Trebuchet MS"/>
              </a:rPr>
              <a:t>have</a:t>
            </a:r>
            <a:r>
              <a:rPr dirty="0" sz="3600" spc="-150" i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3600" spc="-135" i="1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dirty="0" sz="3600" spc="-150" i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3600" spc="-155" i="1">
                <a:solidFill>
                  <a:srgbClr val="FF0000"/>
                </a:solidFill>
                <a:latin typeface="Trebuchet MS"/>
                <a:cs typeface="Trebuchet MS"/>
              </a:rPr>
              <a:t>strictly </a:t>
            </a:r>
            <a:r>
              <a:rPr dirty="0" sz="3600" spc="-135" i="1">
                <a:solidFill>
                  <a:srgbClr val="FF0000"/>
                </a:solidFill>
                <a:latin typeface="Trebuchet MS"/>
                <a:cs typeface="Trebuchet MS"/>
              </a:rPr>
              <a:t>follow</a:t>
            </a:r>
            <a:r>
              <a:rPr dirty="0" sz="3600" spc="-150" i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3600" spc="-20" i="1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endParaRPr sz="3600">
              <a:latin typeface="Trebuchet MS"/>
              <a:cs typeface="Trebuchet MS"/>
            </a:endParaRPr>
          </a:p>
          <a:p>
            <a:pPr algn="ctr" marL="382905">
              <a:lnSpc>
                <a:spcPct val="100000"/>
              </a:lnSpc>
            </a:pPr>
            <a:r>
              <a:rPr dirty="0" sz="3600" spc="-10" i="1">
                <a:solidFill>
                  <a:srgbClr val="FF0000"/>
                </a:solidFill>
                <a:latin typeface="Trebuchet MS"/>
                <a:cs typeface="Trebuchet MS"/>
              </a:rPr>
              <a:t>format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65"/>
              <a:t>Define</a:t>
            </a:r>
            <a:r>
              <a:rPr dirty="0" spc="-229"/>
              <a:t> </a:t>
            </a:r>
            <a:r>
              <a:rPr dirty="0" spc="114"/>
              <a:t>Transliteration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825" y="1725958"/>
            <a:ext cx="1444625" cy="104838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70">
                <a:latin typeface="Tahoma"/>
                <a:cs typeface="Tahoma"/>
              </a:rPr>
              <a:t>Input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120">
                <a:latin typeface="Tahoma"/>
                <a:cs typeface="Tahoma"/>
              </a:rPr>
              <a:t>Output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Data</a:t>
            </a:r>
            <a:r>
              <a:rPr dirty="0" spc="-215"/>
              <a:t> </a:t>
            </a:r>
            <a:r>
              <a:rPr dirty="0" spc="204"/>
              <a:t>downloading</a:t>
            </a:r>
            <a:r>
              <a:rPr dirty="0" spc="-210"/>
              <a:t> </a:t>
            </a:r>
            <a:r>
              <a:rPr dirty="0" spc="210"/>
              <a:t>and</a:t>
            </a:r>
            <a:r>
              <a:rPr dirty="0" spc="-200"/>
              <a:t> </a:t>
            </a:r>
            <a:r>
              <a:rPr dirty="0" spc="160"/>
              <a:t>cleaning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825" y="1725958"/>
            <a:ext cx="9574530" cy="207073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125">
                <a:latin typeface="Tahoma"/>
                <a:cs typeface="Tahoma"/>
              </a:rPr>
              <a:t>How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50">
                <a:latin typeface="Tahoma"/>
                <a:cs typeface="Tahoma"/>
              </a:rPr>
              <a:t>much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114">
                <a:latin typeface="Tahoma"/>
                <a:cs typeface="Tahoma"/>
              </a:rPr>
              <a:t>of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data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35">
                <a:latin typeface="Tahoma"/>
                <a:cs typeface="Tahoma"/>
              </a:rPr>
              <a:t>did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you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30">
                <a:latin typeface="Tahoma"/>
                <a:cs typeface="Tahoma"/>
              </a:rPr>
              <a:t>use?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90">
                <a:latin typeface="Tahoma"/>
                <a:cs typeface="Tahoma"/>
              </a:rPr>
              <a:t>What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14">
                <a:latin typeface="Tahoma"/>
                <a:cs typeface="Tahoma"/>
              </a:rPr>
              <a:t>kind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of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30">
                <a:latin typeface="Tahoma"/>
                <a:cs typeface="Tahoma"/>
              </a:rPr>
              <a:t>sampling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14">
                <a:latin typeface="Tahoma"/>
                <a:cs typeface="Tahoma"/>
              </a:rPr>
              <a:t>of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the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data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140">
                <a:latin typeface="Tahoma"/>
                <a:cs typeface="Tahoma"/>
              </a:rPr>
              <a:t>did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you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40">
                <a:latin typeface="Tahoma"/>
                <a:cs typeface="Tahoma"/>
              </a:rPr>
              <a:t>do?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114">
                <a:latin typeface="Tahoma"/>
                <a:cs typeface="Tahoma"/>
              </a:rPr>
              <a:t>From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what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source?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125">
                <a:latin typeface="Tahoma"/>
                <a:cs typeface="Tahoma"/>
              </a:rPr>
              <a:t>Did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you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use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any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cleaning?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If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so,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what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 spc="130">
                <a:latin typeface="Tahoma"/>
                <a:cs typeface="Tahoma"/>
              </a:rPr>
              <a:t>and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25">
                <a:latin typeface="Tahoma"/>
                <a:cs typeface="Tahoma"/>
              </a:rPr>
              <a:t>how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35">
                <a:latin typeface="Tahoma"/>
                <a:cs typeface="Tahoma"/>
              </a:rPr>
              <a:t>and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30">
                <a:latin typeface="Tahoma"/>
                <a:cs typeface="Tahoma"/>
              </a:rPr>
              <a:t>why?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/>
              <a:t>LSTM</a:t>
            </a:r>
            <a:r>
              <a:rPr dirty="0" spc="-225"/>
              <a:t> </a:t>
            </a:r>
            <a:r>
              <a:rPr dirty="0" spc="195"/>
              <a:t>Based</a:t>
            </a:r>
            <a:r>
              <a:rPr dirty="0" spc="-225"/>
              <a:t> </a:t>
            </a:r>
            <a:r>
              <a:rPr dirty="0" spc="114"/>
              <a:t>Transliteration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90"/>
              <a:t>What</a:t>
            </a:r>
            <a:r>
              <a:rPr dirty="0" sz="2800" spc="-150"/>
              <a:t> </a:t>
            </a:r>
            <a:r>
              <a:rPr dirty="0" sz="2800" spc="135"/>
              <a:t>did</a:t>
            </a:r>
            <a:r>
              <a:rPr dirty="0" sz="2800" spc="-150"/>
              <a:t> </a:t>
            </a:r>
            <a:r>
              <a:rPr dirty="0" sz="2800" spc="105"/>
              <a:t>you</a:t>
            </a:r>
            <a:r>
              <a:rPr dirty="0" sz="2800" spc="-150"/>
              <a:t> </a:t>
            </a:r>
            <a:r>
              <a:rPr dirty="0" sz="2800" spc="105"/>
              <a:t>read</a:t>
            </a:r>
            <a:r>
              <a:rPr dirty="0" sz="2800" spc="-150"/>
              <a:t> </a:t>
            </a:r>
            <a:r>
              <a:rPr dirty="0" sz="2800" spc="120"/>
              <a:t>for</a:t>
            </a:r>
            <a:r>
              <a:rPr dirty="0" sz="2800" spc="-140"/>
              <a:t> </a:t>
            </a:r>
            <a:r>
              <a:rPr dirty="0" sz="2800" spc="90"/>
              <a:t>this</a:t>
            </a:r>
            <a:r>
              <a:rPr dirty="0" sz="2800" spc="-150"/>
              <a:t> </a:t>
            </a:r>
            <a:r>
              <a:rPr dirty="0" sz="2800" spc="110"/>
              <a:t>part</a:t>
            </a:r>
            <a:r>
              <a:rPr dirty="0" sz="2800" spc="-145"/>
              <a:t> </a:t>
            </a:r>
            <a:r>
              <a:rPr dirty="0" sz="2800" spc="110"/>
              <a:t>of</a:t>
            </a:r>
            <a:r>
              <a:rPr dirty="0" sz="2800" spc="-140"/>
              <a:t> </a:t>
            </a:r>
            <a:r>
              <a:rPr dirty="0" sz="2800" spc="100"/>
              <a:t>the</a:t>
            </a:r>
            <a:r>
              <a:rPr dirty="0" sz="2800" spc="-150"/>
              <a:t> </a:t>
            </a:r>
            <a:r>
              <a:rPr dirty="0" sz="2800" spc="90"/>
              <a:t>assignment?</a:t>
            </a:r>
            <a:endParaRPr sz="2800"/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125"/>
              <a:t>Compare</a:t>
            </a:r>
            <a:r>
              <a:rPr dirty="0" sz="2800" spc="-150"/>
              <a:t> </a:t>
            </a:r>
            <a:r>
              <a:rPr dirty="0" sz="2800" spc="105"/>
              <a:t>greedy</a:t>
            </a:r>
            <a:r>
              <a:rPr dirty="0" sz="2800" spc="-140"/>
              <a:t> </a:t>
            </a:r>
            <a:r>
              <a:rPr dirty="0" sz="2800" spc="125"/>
              <a:t>decoding</a:t>
            </a:r>
            <a:r>
              <a:rPr dirty="0" sz="2800" spc="-145"/>
              <a:t> </a:t>
            </a:r>
            <a:r>
              <a:rPr dirty="0" sz="2800" spc="50"/>
              <a:t>vs</a:t>
            </a:r>
            <a:r>
              <a:rPr dirty="0" sz="2800" spc="-150"/>
              <a:t> </a:t>
            </a:r>
            <a:r>
              <a:rPr dirty="0" sz="2800" spc="150"/>
              <a:t>beam</a:t>
            </a:r>
            <a:r>
              <a:rPr dirty="0" sz="2800" spc="-140"/>
              <a:t> </a:t>
            </a:r>
            <a:r>
              <a:rPr dirty="0" sz="2800" spc="75"/>
              <a:t>search</a:t>
            </a:r>
            <a:endParaRPr sz="2800"/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/>
              <a:t>Is</a:t>
            </a:r>
            <a:r>
              <a:rPr dirty="0" sz="2800" spc="-150"/>
              <a:t> </a:t>
            </a:r>
            <a:r>
              <a:rPr dirty="0" sz="2800" spc="120"/>
              <a:t>your</a:t>
            </a:r>
            <a:r>
              <a:rPr dirty="0" sz="2800" spc="-155"/>
              <a:t> </a:t>
            </a:r>
            <a:r>
              <a:rPr dirty="0" sz="2800" spc="140"/>
              <a:t>program</a:t>
            </a:r>
            <a:r>
              <a:rPr dirty="0" sz="2800" spc="-160"/>
              <a:t> </a:t>
            </a:r>
            <a:r>
              <a:rPr dirty="0" sz="2800" spc="95"/>
              <a:t>running?</a:t>
            </a:r>
            <a:endParaRPr sz="2800"/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/>
              <a:t>If</a:t>
            </a:r>
            <a:r>
              <a:rPr dirty="0" sz="2800" spc="-110"/>
              <a:t> </a:t>
            </a:r>
            <a:r>
              <a:rPr dirty="0" sz="2800"/>
              <a:t>yes,</a:t>
            </a:r>
            <a:r>
              <a:rPr dirty="0" sz="2800" spc="-120"/>
              <a:t> </a:t>
            </a:r>
            <a:r>
              <a:rPr dirty="0" sz="2800" spc="85"/>
              <a:t>give</a:t>
            </a:r>
            <a:r>
              <a:rPr dirty="0" sz="2800" spc="-114"/>
              <a:t> </a:t>
            </a:r>
            <a:r>
              <a:rPr dirty="0" sz="2800" spc="105"/>
              <a:t>the</a:t>
            </a:r>
            <a:r>
              <a:rPr dirty="0" sz="2800" spc="-114"/>
              <a:t> </a:t>
            </a:r>
            <a:r>
              <a:rPr dirty="0" sz="2800"/>
              <a:t>GUI-</a:t>
            </a:r>
            <a:r>
              <a:rPr dirty="0" sz="2800" spc="114"/>
              <a:t>based</a:t>
            </a:r>
            <a:r>
              <a:rPr dirty="0" sz="2800" spc="-114"/>
              <a:t> </a:t>
            </a:r>
            <a:r>
              <a:rPr dirty="0" sz="2800" spc="145"/>
              <a:t>demo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Transformer</a:t>
            </a:r>
            <a:r>
              <a:rPr dirty="0" spc="-235"/>
              <a:t> </a:t>
            </a:r>
            <a:r>
              <a:rPr dirty="0" spc="195"/>
              <a:t>Based</a:t>
            </a:r>
            <a:r>
              <a:rPr dirty="0" spc="-229"/>
              <a:t> </a:t>
            </a:r>
            <a:r>
              <a:rPr dirty="0" spc="114"/>
              <a:t>Transliteration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90"/>
              <a:t>What</a:t>
            </a:r>
            <a:r>
              <a:rPr dirty="0" sz="2800" spc="-150"/>
              <a:t> </a:t>
            </a:r>
            <a:r>
              <a:rPr dirty="0" sz="2800" spc="135"/>
              <a:t>did</a:t>
            </a:r>
            <a:r>
              <a:rPr dirty="0" sz="2800" spc="-150"/>
              <a:t> </a:t>
            </a:r>
            <a:r>
              <a:rPr dirty="0" sz="2800" spc="105"/>
              <a:t>you</a:t>
            </a:r>
            <a:r>
              <a:rPr dirty="0" sz="2800" spc="-150"/>
              <a:t> </a:t>
            </a:r>
            <a:r>
              <a:rPr dirty="0" sz="2800" spc="105"/>
              <a:t>read</a:t>
            </a:r>
            <a:r>
              <a:rPr dirty="0" sz="2800" spc="-150"/>
              <a:t> </a:t>
            </a:r>
            <a:r>
              <a:rPr dirty="0" sz="2800" spc="120"/>
              <a:t>for</a:t>
            </a:r>
            <a:r>
              <a:rPr dirty="0" sz="2800" spc="-140"/>
              <a:t> </a:t>
            </a:r>
            <a:r>
              <a:rPr dirty="0" sz="2800" spc="90"/>
              <a:t>this</a:t>
            </a:r>
            <a:r>
              <a:rPr dirty="0" sz="2800" spc="-150"/>
              <a:t> </a:t>
            </a:r>
            <a:r>
              <a:rPr dirty="0" sz="2800" spc="110"/>
              <a:t>part</a:t>
            </a:r>
            <a:r>
              <a:rPr dirty="0" sz="2800" spc="-145"/>
              <a:t> </a:t>
            </a:r>
            <a:r>
              <a:rPr dirty="0" sz="2800" spc="110"/>
              <a:t>of</a:t>
            </a:r>
            <a:r>
              <a:rPr dirty="0" sz="2800" spc="-140"/>
              <a:t> </a:t>
            </a:r>
            <a:r>
              <a:rPr dirty="0" sz="2800" spc="100"/>
              <a:t>the</a:t>
            </a:r>
            <a:r>
              <a:rPr dirty="0" sz="2800" spc="-150"/>
              <a:t> </a:t>
            </a:r>
            <a:r>
              <a:rPr dirty="0" sz="2800" spc="90"/>
              <a:t>assignment?</a:t>
            </a:r>
            <a:endParaRPr sz="2800"/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125"/>
              <a:t>Compare</a:t>
            </a:r>
            <a:r>
              <a:rPr dirty="0" sz="2800" spc="-150"/>
              <a:t> </a:t>
            </a:r>
            <a:r>
              <a:rPr dirty="0" sz="2800" spc="105"/>
              <a:t>greedy</a:t>
            </a:r>
            <a:r>
              <a:rPr dirty="0" sz="2800" spc="-140"/>
              <a:t> </a:t>
            </a:r>
            <a:r>
              <a:rPr dirty="0" sz="2800" spc="125"/>
              <a:t>decoding</a:t>
            </a:r>
            <a:r>
              <a:rPr dirty="0" sz="2800" spc="-145"/>
              <a:t> </a:t>
            </a:r>
            <a:r>
              <a:rPr dirty="0" sz="2800" spc="50"/>
              <a:t>vs</a:t>
            </a:r>
            <a:r>
              <a:rPr dirty="0" sz="2800" spc="-150"/>
              <a:t> </a:t>
            </a:r>
            <a:r>
              <a:rPr dirty="0" sz="2800" spc="150"/>
              <a:t>beam</a:t>
            </a:r>
            <a:r>
              <a:rPr dirty="0" sz="2800" spc="-140"/>
              <a:t> </a:t>
            </a:r>
            <a:r>
              <a:rPr dirty="0" sz="2800" spc="75"/>
              <a:t>search</a:t>
            </a:r>
            <a:endParaRPr sz="2800"/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/>
              <a:t>Is</a:t>
            </a:r>
            <a:r>
              <a:rPr dirty="0" sz="2800" spc="-150"/>
              <a:t> </a:t>
            </a:r>
            <a:r>
              <a:rPr dirty="0" sz="2800" spc="120"/>
              <a:t>your</a:t>
            </a:r>
            <a:r>
              <a:rPr dirty="0" sz="2800" spc="-155"/>
              <a:t> </a:t>
            </a:r>
            <a:r>
              <a:rPr dirty="0" sz="2800" spc="140"/>
              <a:t>program</a:t>
            </a:r>
            <a:r>
              <a:rPr dirty="0" sz="2800" spc="-160"/>
              <a:t> </a:t>
            </a:r>
            <a:r>
              <a:rPr dirty="0" sz="2800" spc="95"/>
              <a:t>running?</a:t>
            </a:r>
            <a:endParaRPr sz="2800"/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/>
              <a:t>If</a:t>
            </a:r>
            <a:r>
              <a:rPr dirty="0" sz="2800" spc="-110"/>
              <a:t> </a:t>
            </a:r>
            <a:r>
              <a:rPr dirty="0" sz="2800"/>
              <a:t>yes,</a:t>
            </a:r>
            <a:r>
              <a:rPr dirty="0" sz="2800" spc="-120"/>
              <a:t> </a:t>
            </a:r>
            <a:r>
              <a:rPr dirty="0" sz="2800" spc="85"/>
              <a:t>give</a:t>
            </a:r>
            <a:r>
              <a:rPr dirty="0" sz="2800" spc="-114"/>
              <a:t> </a:t>
            </a:r>
            <a:r>
              <a:rPr dirty="0" sz="2800" spc="105"/>
              <a:t>the</a:t>
            </a:r>
            <a:r>
              <a:rPr dirty="0" sz="2800" spc="-114"/>
              <a:t> </a:t>
            </a:r>
            <a:r>
              <a:rPr dirty="0" sz="2800"/>
              <a:t>GUI-</a:t>
            </a:r>
            <a:r>
              <a:rPr dirty="0" sz="2800" spc="114"/>
              <a:t>based</a:t>
            </a:r>
            <a:r>
              <a:rPr dirty="0" sz="2800" spc="-114"/>
              <a:t> </a:t>
            </a:r>
            <a:r>
              <a:rPr dirty="0" sz="2800" spc="145"/>
              <a:t>demo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54"/>
              <a:t>LLM</a:t>
            </a:r>
            <a:r>
              <a:rPr dirty="0" spc="-235"/>
              <a:t> </a:t>
            </a:r>
            <a:r>
              <a:rPr dirty="0" spc="195"/>
              <a:t>Based</a:t>
            </a:r>
            <a:r>
              <a:rPr dirty="0" spc="-229"/>
              <a:t> </a:t>
            </a:r>
            <a:r>
              <a:rPr dirty="0" spc="114"/>
              <a:t>Transliteration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825" y="1725958"/>
            <a:ext cx="8663305" cy="258191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90">
                <a:latin typeface="Tahoma"/>
                <a:cs typeface="Tahoma"/>
              </a:rPr>
              <a:t>What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35">
                <a:latin typeface="Tahoma"/>
                <a:cs typeface="Tahoma"/>
              </a:rPr>
              <a:t>did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you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read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20">
                <a:latin typeface="Tahoma"/>
                <a:cs typeface="Tahoma"/>
              </a:rPr>
              <a:t>for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this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part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of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the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90">
                <a:latin typeface="Tahoma"/>
                <a:cs typeface="Tahoma"/>
              </a:rPr>
              <a:t>assignment?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95">
                <a:latin typeface="Tahoma"/>
                <a:cs typeface="Tahoma"/>
              </a:rPr>
              <a:t>Which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60">
                <a:latin typeface="Tahoma"/>
                <a:cs typeface="Tahoma"/>
              </a:rPr>
              <a:t>LLM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35">
                <a:latin typeface="Tahoma"/>
                <a:cs typeface="Tahoma"/>
              </a:rPr>
              <a:t>did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you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30">
                <a:latin typeface="Tahoma"/>
                <a:cs typeface="Tahoma"/>
              </a:rPr>
              <a:t>use?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Tahoma"/>
                <a:cs typeface="Tahoma"/>
              </a:rPr>
              <a:t>Try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with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00">
                <a:latin typeface="Tahoma"/>
                <a:cs typeface="Tahoma"/>
              </a:rPr>
              <a:t>various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values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20">
                <a:latin typeface="Tahoma"/>
                <a:cs typeface="Tahoma"/>
              </a:rPr>
              <a:t>for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temperature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35">
                <a:latin typeface="Tahoma"/>
                <a:cs typeface="Tahoma"/>
              </a:rPr>
              <a:t>and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top_p.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120">
                <a:latin typeface="Tahoma"/>
                <a:cs typeface="Tahoma"/>
              </a:rPr>
              <a:t>your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 spc="140">
                <a:latin typeface="Tahoma"/>
                <a:cs typeface="Tahoma"/>
              </a:rPr>
              <a:t>program</a:t>
            </a:r>
            <a:r>
              <a:rPr dirty="0" sz="2800" spc="-160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running?</a:t>
            </a:r>
            <a:endParaRPr sz="2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Tahoma"/>
                <a:cs typeface="Tahoma"/>
              </a:rPr>
              <a:t>If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yes,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give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the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GUI-</a:t>
            </a:r>
            <a:r>
              <a:rPr dirty="0" sz="2800" spc="114">
                <a:latin typeface="Tahoma"/>
                <a:cs typeface="Tahoma"/>
              </a:rPr>
              <a:t>based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 spc="145">
                <a:latin typeface="Tahoma"/>
                <a:cs typeface="Tahoma"/>
              </a:rPr>
              <a:t>demo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10"/>
              <a:t>Compare</a:t>
            </a:r>
            <a:r>
              <a:rPr dirty="0" spc="-229"/>
              <a:t> </a:t>
            </a:r>
            <a:r>
              <a:rPr dirty="0" spc="215"/>
              <a:t>and</a:t>
            </a:r>
            <a:r>
              <a:rPr dirty="0" spc="-235"/>
              <a:t> </a:t>
            </a:r>
            <a:r>
              <a:rPr dirty="0" spc="135"/>
              <a:t>contrast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825" y="1810347"/>
            <a:ext cx="10310495" cy="440563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41300" marR="190500" indent="-228600">
              <a:lnSpc>
                <a:spcPts val="3020"/>
              </a:lnSpc>
              <a:spcBef>
                <a:spcPts val="48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80">
                <a:latin typeface="Tahoma"/>
                <a:cs typeface="Tahoma"/>
              </a:rPr>
              <a:t>Give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a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tabular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30">
                <a:latin typeface="Tahoma"/>
                <a:cs typeface="Tahoma"/>
              </a:rPr>
              <a:t>comparison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4">
                <a:latin typeface="Tahoma"/>
                <a:cs typeface="Tahoma"/>
              </a:rPr>
              <a:t>of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word-</a:t>
            </a:r>
            <a:r>
              <a:rPr dirty="0" sz="2800" spc="60">
                <a:latin typeface="Tahoma"/>
                <a:cs typeface="Tahoma"/>
              </a:rPr>
              <a:t>level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60">
                <a:latin typeface="Tahoma"/>
                <a:cs typeface="Tahoma"/>
              </a:rPr>
              <a:t>exact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70">
                <a:latin typeface="Tahoma"/>
                <a:cs typeface="Tahoma"/>
              </a:rPr>
              <a:t>accuracy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and </a:t>
            </a:r>
            <a:r>
              <a:rPr dirty="0" sz="2800" spc="65">
                <a:latin typeface="Tahoma"/>
                <a:cs typeface="Tahoma"/>
              </a:rPr>
              <a:t>character-</a:t>
            </a:r>
            <a:r>
              <a:rPr dirty="0" sz="2800" spc="60">
                <a:latin typeface="Tahoma"/>
                <a:cs typeface="Tahoma"/>
              </a:rPr>
              <a:t>level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F1</a:t>
            </a:r>
            <a:endParaRPr sz="2800">
              <a:latin typeface="Tahoma"/>
              <a:cs typeface="Tahoma"/>
            </a:endParaRPr>
          </a:p>
          <a:p>
            <a:pPr lvl="1" marL="697230" marR="1091565" indent="-227329">
              <a:lnSpc>
                <a:spcPct val="100000"/>
              </a:lnSpc>
              <a:spcBef>
                <a:spcPts val="17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400" spc="150">
                <a:latin typeface="Tahoma"/>
                <a:cs typeface="Tahoma"/>
              </a:rPr>
              <a:t>More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 spc="110">
                <a:latin typeface="Tahoma"/>
                <a:cs typeface="Tahoma"/>
              </a:rPr>
              <a:t>about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these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90">
                <a:latin typeface="Tahoma"/>
                <a:cs typeface="Tahoma"/>
              </a:rPr>
              <a:t>metrics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here: </a:t>
            </a:r>
            <a:r>
              <a:rPr dirty="0" sz="2400" spc="-10">
                <a:latin typeface="Tahoma"/>
                <a:cs typeface="Tahoma"/>
              </a:rPr>
              <a:t>	</a:t>
            </a:r>
            <a:r>
              <a:rPr dirty="0" u="sng" sz="2400" spc="50">
                <a:solidFill>
                  <a:srgbClr val="457785"/>
                </a:solidFill>
                <a:uFill>
                  <a:solidFill>
                    <a:srgbClr val="457785"/>
                  </a:solidFill>
                </a:uFill>
                <a:latin typeface="Tahoma"/>
                <a:cs typeface="Tahoma"/>
                <a:hlinkClick r:id="rId2"/>
              </a:rPr>
              <a:t>https://aclanthology.org/W15-</a:t>
            </a:r>
            <a:r>
              <a:rPr dirty="0" u="sng" sz="2400" spc="55">
                <a:solidFill>
                  <a:srgbClr val="457785"/>
                </a:solidFill>
                <a:uFill>
                  <a:solidFill>
                    <a:srgbClr val="457785"/>
                  </a:solidFill>
                </a:uFill>
                <a:latin typeface="Tahoma"/>
                <a:cs typeface="Tahoma"/>
                <a:hlinkClick r:id="rId2"/>
              </a:rPr>
              <a:t>3902.pdf</a:t>
            </a:r>
            <a:r>
              <a:rPr dirty="0" sz="2400" spc="-30">
                <a:solidFill>
                  <a:srgbClr val="457785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(Section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3.1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114">
                <a:latin typeface="Tahoma"/>
                <a:cs typeface="Tahoma"/>
              </a:rPr>
              <a:t>and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3.2)</a:t>
            </a:r>
            <a:endParaRPr sz="2400">
              <a:latin typeface="Tahoma"/>
              <a:cs typeface="Tahoma"/>
            </a:endParaRPr>
          </a:p>
          <a:p>
            <a:pPr lvl="1" marL="697230" indent="-227329">
              <a:lnSpc>
                <a:spcPts val="2875"/>
              </a:lnSpc>
              <a:spcBef>
                <a:spcPts val="28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Tahoma"/>
                <a:cs typeface="Tahoma"/>
              </a:rPr>
              <a:t>You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85">
                <a:latin typeface="Tahoma"/>
                <a:cs typeface="Tahoma"/>
              </a:rPr>
              <a:t>can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 spc="95">
                <a:latin typeface="Tahoma"/>
                <a:cs typeface="Tahoma"/>
              </a:rPr>
              <a:t>use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this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80">
                <a:latin typeface="Tahoma"/>
                <a:cs typeface="Tahoma"/>
              </a:rPr>
              <a:t>evaluation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script:</a:t>
            </a:r>
            <a:endParaRPr sz="2400">
              <a:latin typeface="Tahoma"/>
              <a:cs typeface="Tahoma"/>
            </a:endParaRPr>
          </a:p>
          <a:p>
            <a:pPr marL="698500" marR="5080">
              <a:lnSpc>
                <a:spcPts val="2360"/>
              </a:lnSpc>
              <a:spcBef>
                <a:spcPts val="509"/>
              </a:spcBef>
            </a:pPr>
            <a:r>
              <a:rPr dirty="0" u="sng" sz="2400" spc="55">
                <a:solidFill>
                  <a:srgbClr val="457785"/>
                </a:solidFill>
                <a:uFill>
                  <a:solidFill>
                    <a:srgbClr val="457785"/>
                  </a:solidFill>
                </a:uFill>
                <a:latin typeface="Tahoma"/>
                <a:cs typeface="Tahoma"/>
                <a:hlinkClick r:id="rId3"/>
              </a:rPr>
              <a:t>https://github.com/snukky/news-</a:t>
            </a:r>
            <a:r>
              <a:rPr dirty="0" u="sng" sz="2400" spc="50">
                <a:solidFill>
                  <a:srgbClr val="457785"/>
                </a:solidFill>
                <a:uFill>
                  <a:solidFill>
                    <a:srgbClr val="457785"/>
                  </a:solidFill>
                </a:uFill>
                <a:latin typeface="Tahoma"/>
                <a:cs typeface="Tahoma"/>
                <a:hlinkClick r:id="rId3"/>
              </a:rPr>
              <a:t>translit-</a:t>
            </a:r>
            <a:r>
              <a:rPr dirty="0" u="sng" sz="2400" spc="75">
                <a:solidFill>
                  <a:srgbClr val="457785"/>
                </a:solidFill>
                <a:uFill>
                  <a:solidFill>
                    <a:srgbClr val="457785"/>
                  </a:solidFill>
                </a:uFill>
                <a:latin typeface="Tahoma"/>
                <a:cs typeface="Tahoma"/>
                <a:hlinkClick r:id="rId3"/>
              </a:rPr>
              <a:t>nmt/blob/master/tools/ne</a:t>
            </a:r>
            <a:r>
              <a:rPr dirty="0" sz="2400" spc="75">
                <a:solidFill>
                  <a:srgbClr val="457785"/>
                </a:solidFill>
                <a:latin typeface="Tahoma"/>
                <a:cs typeface="Tahoma"/>
              </a:rPr>
              <a:t> </a:t>
            </a:r>
            <a:r>
              <a:rPr dirty="0" u="sng" sz="2400" spc="-10">
                <a:solidFill>
                  <a:srgbClr val="457785"/>
                </a:solidFill>
                <a:uFill>
                  <a:solidFill>
                    <a:srgbClr val="457785"/>
                  </a:solidFill>
                </a:uFill>
                <a:latin typeface="Tahoma"/>
                <a:cs typeface="Tahoma"/>
                <a:hlinkClick r:id="rId3"/>
              </a:rPr>
              <a:t>ws_evaluation.py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4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2800" spc="80">
                <a:latin typeface="Tahoma"/>
                <a:cs typeface="Tahoma"/>
              </a:rPr>
              <a:t>Analyze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25">
                <a:latin typeface="Tahoma"/>
                <a:cs typeface="Tahoma"/>
              </a:rPr>
              <a:t>and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explain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the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observations</a:t>
            </a:r>
            <a:endParaRPr sz="2800">
              <a:latin typeface="Tahoma"/>
              <a:cs typeface="Tahoma"/>
            </a:endParaRPr>
          </a:p>
          <a:p>
            <a:pPr marL="241300" marR="1111885" indent="-228600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90">
                <a:latin typeface="Tahoma"/>
                <a:cs typeface="Tahoma"/>
              </a:rPr>
              <a:t>What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are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the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80">
                <a:latin typeface="Tahoma"/>
                <a:cs typeface="Tahoma"/>
              </a:rPr>
              <a:t>characters/character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105">
                <a:latin typeface="Tahoma"/>
                <a:cs typeface="Tahoma"/>
              </a:rPr>
              <a:t>sequences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95">
                <a:latin typeface="Tahoma"/>
                <a:cs typeface="Tahoma"/>
              </a:rPr>
              <a:t>that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65">
                <a:latin typeface="Tahoma"/>
                <a:cs typeface="Tahoma"/>
              </a:rPr>
              <a:t>are </a:t>
            </a:r>
            <a:r>
              <a:rPr dirty="0" sz="2800" spc="85">
                <a:latin typeface="Tahoma"/>
                <a:cs typeface="Tahoma"/>
              </a:rPr>
              <a:t>difficult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110">
                <a:latin typeface="Tahoma"/>
                <a:cs typeface="Tahoma"/>
              </a:rPr>
              <a:t>to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85">
                <a:latin typeface="Tahoma"/>
                <a:cs typeface="Tahoma"/>
              </a:rPr>
              <a:t>transliterate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 spc="65">
                <a:latin typeface="Tahoma"/>
                <a:cs typeface="Tahoma"/>
              </a:rPr>
              <a:t>correctly?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Why?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Anoop Kunchukuttan</dc:creator>
  <dcterms:created xsi:type="dcterms:W3CDTF">2025-10-16T19:51:55Z</dcterms:created>
  <dcterms:modified xsi:type="dcterms:W3CDTF">2025-10-16T19:51:55Z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2025-09-25T00:00:00Z</vt:filetime>
  </property>
</Properties>
</file>